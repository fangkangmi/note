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Violations</c:v>
                </c:pt>
              </c:strCache>
            </c:strRef>
          </c:tx>
          <c:dPt>
            <c:idx val="0"/>
            <c:spPr>
              <a:solidFill>
                <a:srgbClr val="9FB4AB"/>
              </a:solidFill>
            </c:spPr>
          </c:dPt>
          <c:dPt>
            <c:idx val="1"/>
            <c:spPr>
              <a:solidFill>
                <a:srgbClr val="C0392A"/>
              </a:solidFill>
            </c:spPr>
          </c:dPt>
          <c:dPt>
            <c:idx val="2"/>
            <c:spPr>
              <a:solidFill>
                <a:srgbClr val="00865A"/>
              </a:solidFill>
            </c:spPr>
          </c:dPt>
          <c:cat>
            <c:strRef>
              <c:f>Sheet1!$A$2:$A$4</c:f>
              <c:strCache>
                <c:ptCount val="3"/>
                <c:pt idx="0">
                  <c:v>Present in PR</c:v>
                </c:pt>
                <c:pt idx="1">
                  <c:v>Found by humans</c:v>
                </c:pt>
                <c:pt idx="2">
                  <c:v>Found by skill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3</c:v>
                </c:pt>
                <c:pt idx="2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Goal: decide together whether skill-based review is worth adopting for APIE compliance. By the end they'll have seen it beat a manual review on the exact task they do weekly. Laptops closed until the hands-on.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'How long does a proper APIE review of an OpenAPI PR take you?' Then: 'Hands up if you catch every violation, every time.' Few hands — that's the hook.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Protect the contrast (human vs no-skill vs skill) — it's the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skills are plain files in .github/, already wired into Copilot. code-review = detection + routing; APIE = the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timer. Hand out the three links. Walk the room — note who reaches for the standard doc vs reviews from memory. This toil is the baseline we beat.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reveal the violations yet. Hidden examples: path not lowercase/kebab, no operationId, create should be 201, no 4xx error using the standard Error schema, inline schema vs $ref, property casing. Replace with your ACTUAL APIE rules so a no-skill review can't catch it from general REST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Fill the numbers live. The bar gap — violations present vs found by humans vs found by skill — is your whole argument. Edit the (6, 3, 6) tuple to match the real PR +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show of hands; count roughly. Sets up the reveal.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live or play recording. Land the line: capable model, but it has never read APIE. (You confirmed it really misses — no domain knowledge.)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MOMENT — slow down. Point at the citation. Re-ask the bet. Caveat: clause citation is usually present but model-dependent — if it doesn't print the clause id this run, narrate it from the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the buy-in. Leave it up while you talk through why it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breath. The headline number. Let it sit before 'why it matters'.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language leadership buys. Auditability first — it's a bank.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honest, validated core message. We ran pass@k: the skill reliably ADDS APIE depth AND tunnels the model's attention to the standard, missing some general issues the no-skill run catches. That's WHY we show both today: skill = depth on your standard, no-skill = breadth. Keep a human approver over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Facilitators roam. Collect the 'missed' notes — they feed the skill and the rollout pitch. (Expect some over-flagging; that's the 'both lenses' message in action.)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the LIVE demo here — comment @lbg-reviewer on a real PR and let it post the APIE review inline. Be honest it's a PoC; the point is direction: same skills, now a teammate on every PR.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Capture answers — genuinely useful input for the management track. Assign an owner to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Concrete, small, this-week asks. End with the owner + where to send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the scorecard or 'two lenses' slide up if Q&amp;A runs 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FE3BF"/>
                </a:solidFill>
                <a:latin typeface="Segoe UI"/>
              </a:rPr>
              <a:t>LBG ENGINEERING ·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200" b="1">
                <a:solidFill>
                  <a:srgbClr val="FFFFFF"/>
                </a:solidFill>
                <a:latin typeface="Segoe UI"/>
              </a:rPr>
              <a:t>Agent Skills for Code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7FE3BF"/>
                </a:solidFill>
                <a:latin typeface="Segoe UI"/>
              </a:rPr>
              <a:t>Auto-checking OpenAPI PRs against the LBG APIE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805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FB4AB"/>
                </a:solidFill>
                <a:latin typeface="Segoe UI"/>
              </a:rPr>
              <a:t>90 minutes  ·  [date]  ·  [facilitator]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0865A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00382A"/>
                </a:solidFill>
                <a:latin typeface="Segoe UI"/>
              </a:rPr>
              <a:t>Reviewing a spec against APIE is manual toil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16241F"/>
                </a:solidFill>
                <a:latin typeface="Segoe UI"/>
              </a:rPr>
              <a:t>•  Open the PR. Open the APIE standard.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16241F"/>
                </a:solidFill>
                <a:latin typeface="Segoe UI"/>
              </a:rPr>
              <a:t>•  Scroll. Compare clause by clause. By hand.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16241F"/>
                </a:solidFill>
                <a:latin typeface="Segoe UI"/>
              </a:rPr>
              <a:t>•  Hope you didn't miss one.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16241F"/>
                </a:solidFill>
                <a:latin typeface="Segoe UI"/>
              </a:rPr>
              <a:t>•  Every reviewer does it slightly differently.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0865A"/>
                </a:solidFill>
                <a:latin typeface="Segoe UI"/>
              </a:rPr>
              <a:t>What if the standard checked itself?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0865A"/>
                </a:solidFill>
                <a:latin typeface="Segoe UI"/>
              </a:rPr>
              <a:t>TODAY · 90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00382A"/>
                </a:solidFill>
                <a:latin typeface="Segoe UI"/>
              </a:rPr>
              <a:t>How this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0">
                <a:solidFill>
                  <a:srgbClr val="16241F"/>
                </a:solidFill>
                <a:latin typeface="Segoe UI"/>
              </a:rPr>
              <a:t>12'    You review it first — find the APIE violations by hand (timed)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0">
                <a:solidFill>
                  <a:srgbClr val="16241F"/>
                </a:solidFill>
                <a:latin typeface="Segoe UI"/>
              </a:rPr>
              <a:t>6'    Debrief — what did we find, how long did it take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0">
                <a:solidFill>
                  <a:srgbClr val="16241F"/>
                </a:solidFill>
                <a:latin typeface="Segoe UI"/>
              </a:rPr>
              <a:t>10'    AI review WITHOUT the skill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0">
                <a:solidFill>
                  <a:srgbClr val="16241F"/>
                </a:solidFill>
                <a:latin typeface="Segoe UI"/>
              </a:rPr>
              <a:t>15'    AI review WITH the APIE skill  — the moment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0">
                <a:solidFill>
                  <a:srgbClr val="16241F"/>
                </a:solidFill>
                <a:latin typeface="Segoe UI"/>
              </a:rPr>
              <a:t>20'    Your turn — hands-on, in groups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0">
                <a:solidFill>
                  <a:srgbClr val="16241F"/>
                </a:solidFill>
                <a:latin typeface="Segoe UI"/>
              </a:rPr>
              <a:t>15'    Where this goes — @lbg-reviewer &amp; discussion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0">
                <a:solidFill>
                  <a:srgbClr val="16241F"/>
                </a:solidFill>
                <a:latin typeface="Segoe UI"/>
              </a:rPr>
              <a:t>7'    Wrap &amp; next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0865A"/>
                </a:solidFill>
                <a:latin typeface="Segoe UI"/>
              </a:rPr>
              <a:t>WHAT WE ALREADY HAVE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00382A"/>
                </a:solidFill>
                <a:latin typeface="Segoe UI"/>
              </a:rPr>
              <a:t>Two skills, living in .github/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5257800" cy="1554480"/>
          </a:xfrm>
          <a:prstGeom prst="roundRect">
            <a:avLst/>
          </a:prstGeom>
          <a:solidFill>
            <a:srgbClr val="F4F8F6"/>
          </a:solidFill>
          <a:ln w="9525">
            <a:solidFill>
              <a:srgbClr val="DF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0865A"/>
                </a:solidFill>
                <a:latin typeface="Segoe UI"/>
              </a:rPr>
              <a:t>APIE standard skill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6241F"/>
                </a:solidFill>
                <a:latin typeface="Segoe UI"/>
              </a:rPr>
              <a:t>The LBG API standard, encoded once — the rules an agent checks a spec against.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2011680"/>
            <a:ext cx="5257800" cy="1554480"/>
          </a:xfrm>
          <a:prstGeom prst="roundRect">
            <a:avLst/>
          </a:prstGeom>
          <a:solidFill>
            <a:srgbClr val="F4F8F6"/>
          </a:solidFill>
          <a:ln w="9525">
            <a:solidFill>
              <a:srgbClr val="DF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0865A"/>
                </a:solidFill>
                <a:latin typeface="Segoe UI"/>
              </a:rPr>
              <a:t>code-review skill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6241F"/>
                </a:solidFill>
                <a:latin typeface="Segoe UI"/>
              </a:rPr>
              <a:t>Detects what changed in the PR and routes the right files to the right standard.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6241F"/>
                </a:solidFill>
                <a:latin typeface="Segoe UI"/>
              </a:rPr>
              <a:t>The chain: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891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0865A"/>
                </a:solidFill>
                <a:latin typeface="Segoe UI"/>
              </a:rPr>
              <a:t>OpenAPI PR diff  →  code-review skill  →  APIE standard skill  →  findings + clause citations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0865A"/>
                </a:solidFill>
                <a:latin typeface="Segoe UI"/>
              </a:rPr>
              <a:t>EXERCISE · 10 MIN ON THE CLOCK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00382A"/>
                </a:solidFill>
                <a:latin typeface="Segoe UI"/>
              </a:rPr>
              <a:t>You're the reviewer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16241F"/>
                </a:solidFill>
                <a:latin typeface="Segoe UI"/>
              </a:rPr>
              <a:t>•  Open the PR:  [PR link]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16241F"/>
                </a:solidFill>
                <a:latin typeface="Segoe UI"/>
              </a:rPr>
              <a:t>•  Open the standard:  [APIE doc link]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16241F"/>
                </a:solidFill>
                <a:latin typeface="Segoe UI"/>
              </a:rPr>
              <a:t>•  Find every APIE violation. Write each down:  [capture link]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16241F"/>
                </a:solidFill>
                <a:latin typeface="Segoe UI"/>
              </a:rPr>
              <a:t>•  No AI yet.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6634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00865A"/>
                </a:solidFill>
                <a:latin typeface="Segoe UI"/>
              </a:rPr>
              <a:t>10:00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0865A"/>
                </a:solidFill>
                <a:latin typeface="Segoe UI"/>
              </a:rPr>
              <a:t>THE CHANGE UNDER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00382A"/>
                </a:solidFill>
                <a:latin typeface="Segoe UI"/>
              </a:rPr>
              <a:t>Looks small. Is it compliant?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8595360" cy="4023360"/>
          </a:xfrm>
          <a:prstGeom prst="roundRect">
            <a:avLst/>
          </a:prstGeom>
          <a:solidFill>
            <a:srgbClr val="F4F8F6"/>
          </a:solidFill>
          <a:ln>
            <a:solidFill>
              <a:srgbClr val="DF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spcAft>
                <a:spcPts val="100"/>
              </a:spcAft>
            </a:pPr>
            <a:r>
              <a:rPr sz="1500">
                <a:solidFill>
                  <a:srgbClr val="16241F"/>
                </a:solidFill>
                <a:latin typeface="Consolas"/>
              </a:rPr>
              <a:t>   paths:</a:t>
            </a:r>
          </a:p>
          <a:p>
            <a:pPr>
              <a:spcAft>
                <a:spcPts val="100"/>
              </a:spcAft>
            </a:pPr>
            <a:r>
              <a:rPr sz="1500">
                <a:solidFill>
                  <a:srgbClr val="00865A"/>
                </a:solidFill>
                <a:latin typeface="Consolas"/>
              </a:rPr>
              <a:t>+    /Accounts:</a:t>
            </a:r>
          </a:p>
          <a:p>
            <a:pPr>
              <a:spcAft>
                <a:spcPts val="100"/>
              </a:spcAft>
            </a:pPr>
            <a:r>
              <a:rPr sz="1500">
                <a:solidFill>
                  <a:srgbClr val="00865A"/>
                </a:solidFill>
                <a:latin typeface="Consolas"/>
              </a:rPr>
              <a:t>+      post:</a:t>
            </a:r>
          </a:p>
          <a:p>
            <a:pPr>
              <a:spcAft>
                <a:spcPts val="100"/>
              </a:spcAft>
            </a:pPr>
            <a:r>
              <a:rPr sz="1500">
                <a:solidFill>
                  <a:srgbClr val="00865A"/>
                </a:solidFill>
                <a:latin typeface="Consolas"/>
              </a:rPr>
              <a:t>+        summary: Create account</a:t>
            </a:r>
          </a:p>
          <a:p>
            <a:pPr>
              <a:spcAft>
                <a:spcPts val="100"/>
              </a:spcAft>
            </a:pPr>
            <a:r>
              <a:rPr sz="1500">
                <a:solidFill>
                  <a:srgbClr val="00865A"/>
                </a:solidFill>
                <a:latin typeface="Consolas"/>
              </a:rPr>
              <a:t>+        responses:</a:t>
            </a:r>
          </a:p>
          <a:p>
            <a:pPr>
              <a:spcAft>
                <a:spcPts val="100"/>
              </a:spcAft>
            </a:pPr>
            <a:r>
              <a:rPr sz="1500">
                <a:solidFill>
                  <a:srgbClr val="00865A"/>
                </a:solidFill>
                <a:latin typeface="Consolas"/>
              </a:rPr>
              <a:t>+          '200':</a:t>
            </a:r>
          </a:p>
          <a:p>
            <a:pPr>
              <a:spcAft>
                <a:spcPts val="100"/>
              </a:spcAft>
            </a:pPr>
            <a:r>
              <a:rPr sz="1500">
                <a:solidFill>
                  <a:srgbClr val="00865A"/>
                </a:solidFill>
                <a:latin typeface="Consolas"/>
              </a:rPr>
              <a:t>+            description: OK</a:t>
            </a:r>
          </a:p>
          <a:p>
            <a:pPr>
              <a:spcAft>
                <a:spcPts val="100"/>
              </a:spcAft>
            </a:pPr>
            <a:r>
              <a:rPr sz="1500">
                <a:solidFill>
                  <a:srgbClr val="00865A"/>
                </a:solidFill>
                <a:latin typeface="Consolas"/>
              </a:rPr>
              <a:t>+            content:</a:t>
            </a:r>
          </a:p>
          <a:p>
            <a:pPr>
              <a:spcAft>
                <a:spcPts val="100"/>
              </a:spcAft>
            </a:pPr>
            <a:r>
              <a:rPr sz="1500">
                <a:solidFill>
                  <a:srgbClr val="00865A"/>
                </a:solidFill>
                <a:latin typeface="Consolas"/>
              </a:rPr>
              <a:t>+              application/json:</a:t>
            </a:r>
          </a:p>
          <a:p>
            <a:pPr>
              <a:spcAft>
                <a:spcPts val="100"/>
              </a:spcAft>
            </a:pPr>
            <a:r>
              <a:rPr sz="1500">
                <a:solidFill>
                  <a:srgbClr val="00865A"/>
                </a:solidFill>
                <a:latin typeface="Consolas"/>
              </a:rPr>
              <a:t>+                schema:</a:t>
            </a:r>
          </a:p>
          <a:p>
            <a:pPr>
              <a:spcAft>
                <a:spcPts val="100"/>
              </a:spcAft>
            </a:pPr>
            <a:r>
              <a:rPr sz="1500">
                <a:solidFill>
                  <a:srgbClr val="00865A"/>
                </a:solidFill>
                <a:latin typeface="Consolas"/>
              </a:rPr>
              <a:t>+                  type: object</a:t>
            </a:r>
          </a:p>
          <a:p>
            <a:pPr>
              <a:spcAft>
                <a:spcPts val="100"/>
              </a:spcAft>
            </a:pPr>
            <a:r>
              <a:rPr sz="1500">
                <a:solidFill>
                  <a:srgbClr val="00865A"/>
                </a:solidFill>
                <a:latin typeface="Consolas"/>
              </a:rPr>
              <a:t>+                  properties:</a:t>
            </a:r>
          </a:p>
          <a:p>
            <a:pPr>
              <a:spcAft>
                <a:spcPts val="100"/>
              </a:spcAft>
            </a:pPr>
            <a:r>
              <a:rPr sz="1500">
                <a:solidFill>
                  <a:srgbClr val="00865A"/>
                </a:solidFill>
                <a:latin typeface="Consolas"/>
              </a:rPr>
              <a:t>+                    AccountID: { type: string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D6F68"/>
                </a:solidFill>
                <a:latin typeface="Segoe UI"/>
              </a:rPr>
              <a:t>[swap in your real diff — keep the subtle APIE violations]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0865A"/>
                </a:solidFill>
                <a:latin typeface="Segoe UI"/>
              </a:rPr>
              <a:t>DEBRIEF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00382A"/>
                </a:solidFill>
                <a:latin typeface="Segoe UI"/>
              </a:rPr>
              <a:t>What did the room find?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16241F"/>
                </a:solidFill>
                <a:latin typeface="Segoe UI"/>
              </a:rPr>
              <a:t>•  Avg time spent:  [__ min]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16241F"/>
                </a:solidFill>
                <a:latin typeface="Segoe UI"/>
              </a:rPr>
              <a:t>•  Found the headline violation:  [__ %]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16241F"/>
                </a:solidFill>
                <a:latin typeface="Segoe UI"/>
              </a:rPr>
              <a:t>•  Most-missed:  [____]</a:t>
            </a:r>
          </a:p>
          <a:p>
            <a:pPr algn="l">
              <a:spcBef>
                <a:spcPts val="1400"/>
              </a:spcBef>
              <a:spcAft>
                <a:spcPts val="600"/>
              </a:spcAft>
            </a:pPr>
            <a:r>
              <a:rPr sz="2200" b="1">
                <a:solidFill>
                  <a:srgbClr val="00865A"/>
                </a:solidFill>
                <a:latin typeface="Segoe UI"/>
              </a:rPr>
              <a:t>The gap is the point.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852160" y="2011680"/>
          <a:ext cx="566928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FE3BF"/>
                </a:solidFill>
                <a:latin typeface="Segoe UI"/>
              </a:rPr>
              <a:t>PLACE YOUR BET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FFFFFF"/>
                </a:solidFill>
                <a:latin typeface="Segoe UI"/>
              </a:rPr>
              <a:t>Will AI with NO skill catch the APIE violation?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7FE3BF"/>
                </a:solidFill>
                <a:latin typeface="Segoe UI"/>
              </a:rPr>
              <a:t>Yes   /   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9FB4AB"/>
                </a:solidFill>
                <a:latin typeface="Segoe UI"/>
              </a:rPr>
              <a:t>Hands up. Remember your vote.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0865A"/>
                </a:solidFill>
                <a:latin typeface="Segoe UI"/>
              </a:rPr>
              <a:t>AI · WITHOUT THE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00382A"/>
                </a:solidFill>
                <a:latin typeface="Segoe UI"/>
              </a:rPr>
              <a:t>Generic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881360" cy="1463040"/>
          </a:xfrm>
          <a:prstGeom prst="roundRect">
            <a:avLst/>
          </a:prstGeom>
          <a:solidFill>
            <a:srgbClr val="F4F8F6"/>
          </a:solidFill>
          <a:ln>
            <a:solidFill>
              <a:srgbClr val="008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D6F68"/>
                </a:solidFill>
                <a:latin typeface="Segoe UI"/>
              </a:rPr>
              <a:t>[ live: run Copilot review with NO skill — or paste screenshot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16241F"/>
                </a:solidFill>
                <a:latin typeface="Segoe UI"/>
              </a:rPr>
              <a:t>•  Comments on style / naming — generically.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16241F"/>
                </a:solidFill>
                <a:latin typeface="Segoe UI"/>
              </a:rPr>
              <a:t>•  Doesn't know the APIE standard. No clause. Misses the org-specific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949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00865A"/>
                </a:solidFill>
                <a:latin typeface="Segoe UI"/>
              </a:rPr>
              <a:t>AI alone doesn't know your standard.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1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FE3BF"/>
                </a:solidFill>
                <a:latin typeface="Segoe UI"/>
              </a:rPr>
              <a:t>AI · WITH THE APIE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FFFFFF"/>
                </a:solidFill>
                <a:latin typeface="Segoe UI"/>
              </a:rPr>
              <a:t>It checks itself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7FE3BF"/>
                </a:solidFill>
                <a:latin typeface="Segoe UI"/>
              </a:rPr>
              <a:t>PR diff  →  code-review  →  APIE skill  →  violation + clause + fix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60320"/>
            <a:ext cx="10881360" cy="1554480"/>
          </a:xfrm>
          <a:prstGeom prst="roundRect">
            <a:avLst/>
          </a:prstGeom>
          <a:solidFill>
            <a:srgbClr val="00382A"/>
          </a:solidFill>
          <a:ln>
            <a:solidFill>
              <a:srgbClr val="7FE3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7FE3BF"/>
                </a:solidFill>
                <a:latin typeface="Segoe UI"/>
              </a:rPr>
              <a:t>[ live: review citing APIE §x.x with suggested fix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891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7FE3BF"/>
                </a:solidFill>
                <a:latin typeface="Segoe UI"/>
              </a:rPr>
              <a:t>Seconds. Every violation. Cites the exact clause.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0865A"/>
                </a:solidFill>
                <a:latin typeface="Segoe UI"/>
              </a:rPr>
              <a:t>SIDE BY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00382A"/>
                </a:solidFill>
                <a:latin typeface="Segoe UI"/>
              </a:rPr>
              <a:t>The contrast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103120"/>
          <a:ext cx="108813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103120"/>
                <a:gridCol w="2103120"/>
                <a:gridCol w="2103120"/>
                <a:gridCol w="2103120"/>
              </a:tblGrid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 </a:t>
                      </a:r>
                    </a:p>
                  </a:txBody>
                  <a:tcPr>
                    <a:solidFill>
                      <a:srgbClr val="0038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Time</a:t>
                      </a:r>
                    </a:p>
                  </a:txBody>
                  <a:tcPr>
                    <a:solidFill>
                      <a:srgbClr val="0038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Caught APIE violation</a:t>
                      </a:r>
                    </a:p>
                  </a:txBody>
                  <a:tcPr>
                    <a:solidFill>
                      <a:srgbClr val="0038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Cited the clause</a:t>
                      </a:r>
                    </a:p>
                  </a:txBody>
                  <a:tcPr>
                    <a:solidFill>
                      <a:srgbClr val="0038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Same every time</a:t>
                      </a:r>
                    </a:p>
                  </a:txBody>
                  <a:tcPr>
                    <a:solidFill>
                      <a:srgbClr val="00382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1F"/>
                          </a:solidFill>
                          <a:latin typeface="Segoe UI"/>
                        </a:rPr>
                        <a:t>Human (manual)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1F"/>
                          </a:solidFill>
                          <a:latin typeface="Segoe UI"/>
                        </a:rPr>
                        <a:t>~10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1F"/>
                          </a:solidFill>
                          <a:latin typeface="Segoe UI"/>
                        </a:rPr>
                        <a:t>some did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1F"/>
                          </a:solidFill>
                          <a:latin typeface="Segoe UI"/>
                        </a:rPr>
                        <a:t>from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1F"/>
                          </a:solidFill>
                          <a:latin typeface="Segoe UI"/>
                        </a:rPr>
                        <a:t>varies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1F"/>
                          </a:solidFill>
                          <a:latin typeface="Segoe UI"/>
                        </a:rPr>
                        <a:t>AI · no skill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1F"/>
                          </a:solidFill>
                          <a:latin typeface="Segoe UI"/>
                        </a:rPr>
                        <a:t>seconds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1F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1F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1F"/>
                          </a:solidFill>
                          <a:latin typeface="Segoe UI"/>
                        </a:rPr>
                        <a:t>generic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382A"/>
                          </a:solidFill>
                          <a:latin typeface="Segoe UI"/>
                        </a:rPr>
                        <a:t>AI · APIE skill</a:t>
                      </a:r>
                    </a:p>
                  </a:txBody>
                  <a:tcPr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382A"/>
                          </a:solidFill>
                          <a:latin typeface="Segoe UI"/>
                        </a:rPr>
                        <a:t>seconds</a:t>
                      </a:r>
                    </a:p>
                  </a:txBody>
                  <a:tcPr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382A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382A"/>
                          </a:solidFill>
                          <a:latin typeface="Segoe UI"/>
                        </a:rPr>
                        <a:t>Yes — clause + fix</a:t>
                      </a:r>
                    </a:p>
                  </a:txBody>
                  <a:tcPr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382A"/>
                          </a:solidFill>
                          <a:latin typeface="Segoe UI"/>
                        </a:rPr>
                        <a:t>Yes — identical</a:t>
                      </a:r>
                    </a:p>
                  </a:txBody>
                  <a:tcPr>
                    <a:solidFill>
                      <a:srgbClr val="F4F8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1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FE3BF"/>
                </a:solidFill>
                <a:latin typeface="Segoe UI"/>
              </a:rPr>
              <a:t>THE DIFFERENCE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FFFFFF"/>
                </a:solidFill>
                <a:latin typeface="Segoe UI"/>
              </a:rPr>
              <a:t>Manual review → skill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Segoe UI"/>
              </a:rPr>
              <a:t>~10 min  →  ~10 sec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7FE3BF"/>
                </a:solidFill>
                <a:latin typeface="Segoe UI"/>
              </a:rPr>
              <a:t>Same standard. Every PR. With the clause cited.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0865A"/>
                </a:solidFill>
                <a:latin typeface="Segoe UI"/>
              </a:rPr>
              <a:t>WHY THIS MATTERS AT LBG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00382A"/>
                </a:solidFill>
                <a:latin typeface="Segoe UI"/>
              </a:rPr>
              <a:t>Not "cool AI" —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5257800" cy="1554480"/>
          </a:xfrm>
          <a:prstGeom prst="roundRect">
            <a:avLst/>
          </a:prstGeom>
          <a:solidFill>
            <a:srgbClr val="F4F8F6"/>
          </a:solidFill>
          <a:ln w="9525">
            <a:solidFill>
              <a:srgbClr val="DF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0865A"/>
                </a:solidFill>
                <a:latin typeface="Segoe UI"/>
              </a:rPr>
              <a:t>Auditability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6241F"/>
                </a:solidFill>
                <a:latin typeface="Segoe UI"/>
              </a:rPr>
              <a:t>Cites the exact APIE clause → traceable, defensible review.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2011680"/>
            <a:ext cx="5257800" cy="1554480"/>
          </a:xfrm>
          <a:prstGeom prst="roundRect">
            <a:avLst/>
          </a:prstGeom>
          <a:solidFill>
            <a:srgbClr val="F4F8F6"/>
          </a:solidFill>
          <a:ln w="9525">
            <a:solidFill>
              <a:srgbClr val="DF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0865A"/>
                </a:solidFill>
                <a:latin typeface="Segoe UI"/>
              </a:rPr>
              <a:t>Consistency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6241F"/>
                </a:solidFill>
                <a:latin typeface="Segoe UI"/>
              </a:rPr>
              <a:t>Same standard applied identically, every team, every PR.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94760"/>
            <a:ext cx="5257800" cy="1554480"/>
          </a:xfrm>
          <a:prstGeom prst="roundRect">
            <a:avLst/>
          </a:prstGeom>
          <a:solidFill>
            <a:srgbClr val="F4F8F6"/>
          </a:solidFill>
          <a:ln w="9525">
            <a:solidFill>
              <a:srgbClr val="DF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0865A"/>
                </a:solidFill>
                <a:latin typeface="Segoe UI"/>
              </a:rPr>
              <a:t>Reviewer load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6241F"/>
                </a:solidFill>
                <a:latin typeface="Segoe UI"/>
              </a:rPr>
              <a:t>Humans focus on logic &amp; risk, not clause-matching.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794760"/>
            <a:ext cx="5257800" cy="1554480"/>
          </a:xfrm>
          <a:prstGeom prst="roundRect">
            <a:avLst/>
          </a:prstGeom>
          <a:solidFill>
            <a:srgbClr val="F4F8F6"/>
          </a:solidFill>
          <a:ln w="9525">
            <a:solidFill>
              <a:srgbClr val="DF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0865A"/>
                </a:solidFill>
                <a:latin typeface="Segoe UI"/>
              </a:rPr>
              <a:t>Speed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6241F"/>
                </a:solidFill>
                <a:latin typeface="Segoe UI"/>
              </a:rPr>
              <a:t>Seconds, not minutes — faster PRs, less back-and-forth.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0865A"/>
                </a:solidFill>
                <a:latin typeface="Segoe UI"/>
              </a:rPr>
              <a:t>THE REAL FINDING · PASS@K VALIDATED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00382A"/>
                </a:solidFill>
                <a:latin typeface="Segoe UI"/>
              </a:rPr>
              <a:t>Run it with AND without the skill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5257800" cy="1828800"/>
          </a:xfrm>
          <a:prstGeom prst="roundRect">
            <a:avLst/>
          </a:prstGeom>
          <a:solidFill>
            <a:srgbClr val="F4F8F6"/>
          </a:solidFill>
          <a:ln w="9525">
            <a:solidFill>
              <a:srgbClr val="DF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0865A"/>
                </a:solidFill>
                <a:latin typeface="Segoe UI"/>
              </a:rPr>
              <a:t>With the skill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6241F"/>
                </a:solidFill>
                <a:latin typeface="Segoe UI"/>
              </a:rPr>
              <a:t>Deep on APIE — cites clauses, catches standard violations a plain model cannot know. But it narrows the model’s view to the standard.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2103120"/>
            <a:ext cx="5257800" cy="1828800"/>
          </a:xfrm>
          <a:prstGeom prst="roundRect">
            <a:avLst/>
          </a:prstGeom>
          <a:solidFill>
            <a:srgbClr val="F4F8F6"/>
          </a:solidFill>
          <a:ln w="9525">
            <a:solidFill>
              <a:srgbClr val="DF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0865A"/>
                </a:solidFill>
                <a:latin typeface="Segoe UI"/>
              </a:rPr>
              <a:t>Without the skill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6241F"/>
                </a:solidFill>
                <a:latin typeface="Segoe UI"/>
              </a:rPr>
              <a:t>Broader, unfocused — catches general issues outside APIE that the skill’s narrow lens skips over.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00865A"/>
                </a:solidFill>
                <a:latin typeface="Segoe UI"/>
              </a:rPr>
              <a:t>Both outputs are valuable. Use both lenses.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FE3BF"/>
                </a:solidFill>
                <a:latin typeface="Segoe UI"/>
              </a:rPr>
              <a:t>YOUR TURN · 20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FFFFFF"/>
                </a:solidFill>
                <a:latin typeface="Segoe UI"/>
              </a:rPr>
              <a:t>Run it yourselves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Segoe UI"/>
              </a:rPr>
              <a:t>•  Groups of [4-5]. Sandbox PR: [link]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Segoe UI"/>
              </a:rPr>
              <a:t>•  Trigger the review (with the skill). Watch it cite APIE.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Segoe UI"/>
              </a:rPr>
              <a:t>•  Try to fool it — add a violation, see if it catches it.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Segoe UI"/>
              </a:rPr>
              <a:t>•  Note: one thing it nailed, one thing it missed.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1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FE3BF"/>
                </a:solidFill>
                <a:latin typeface="Segoe UI"/>
              </a:rPr>
              <a:t>WHERE THIS GOES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FFFFFF"/>
                </a:solidFill>
                <a:latin typeface="Segoe UI"/>
              </a:rPr>
              <a:t>Meet @lbg-reviewer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Segoe UI"/>
              </a:rPr>
              <a:t>•  Today: on-demand in Copilot, at your desk.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Segoe UI"/>
              </a:rPr>
              <a:t>•  Now (PoC): comment @lbg-reviewer on any GitHub PR → it runs the APIE review inline.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Segoe UI"/>
              </a:rPr>
              <a:t>•  Next: automatic on every spec PR. Conversations underway at management level.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6634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7FE3BF"/>
                </a:solidFill>
                <a:latin typeface="Segoe UI"/>
              </a:rPr>
              <a:t>▶ Live demo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0865A"/>
                </a:solidFill>
                <a:latin typeface="Segoe UI"/>
              </a:rPr>
              <a:t>LET'S DECIDE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00382A"/>
                </a:solidFill>
                <a:latin typeface="Segoe UI"/>
              </a:rPr>
              <a:t>Open questions for @lbg-reviewer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16241F"/>
                </a:solidFill>
                <a:latin typeface="Segoe UI"/>
              </a:rPr>
              <a:t>•  Advisory comment, or block the merge?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16241F"/>
                </a:solidFill>
                <a:latin typeface="Segoe UI"/>
              </a:rPr>
              <a:t>•  Who signs off for audit — the bot, or a human approver?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16241F"/>
                </a:solidFill>
                <a:latin typeface="Segoe UI"/>
              </a:rPr>
              <a:t>•  How do we keep the APIE skill in sync as the standard evolves?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16241F"/>
                </a:solidFill>
                <a:latin typeface="Segoe UI"/>
              </a:rPr>
              <a:t>•  Which repos / which standards next?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0865A"/>
                </a:solidFill>
                <a:latin typeface="Segoe U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00382A"/>
                </a:solidFill>
                <a:latin typeface="Segoe UI"/>
              </a:rPr>
              <a:t>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16241F"/>
                </a:solidFill>
                <a:latin typeface="Segoe UI"/>
              </a:rPr>
              <a:t>•  Run the skill on your next OpenAPI PR.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16241F"/>
                </a:solidFill>
                <a:latin typeface="Segoe UI"/>
              </a:rPr>
              <a:t>•  Send us anything it missed or over-flagged → it makes the skill better.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16241F"/>
                </a:solidFill>
                <a:latin typeface="Segoe UI"/>
              </a:rPr>
              <a:t>•  [owner] is collating feedback for the @lbg-reviewer rollout.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749039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7FE3BF"/>
                </a:solidFill>
                <a:latin typeface="Segoe U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4805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FB4AB"/>
                </a:solidFill>
                <a:latin typeface="Segoe UI"/>
              </a:rPr>
              <a:t>[facilitator] · [contact] · skills repo: [.github link]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